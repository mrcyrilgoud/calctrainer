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1/t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0.8</c:v>
                </c:pt>
                <c:pt idx="2">
                  <c:v>0.6666666666666666</c:v>
                </c:pt>
                <c:pt idx="3">
                  <c:v>0.5714285714285714</c:v>
                </c:pt>
                <c:pt idx="4">
                  <c:v>0.5</c:v>
                </c:pt>
                <c:pt idx="5">
                  <c:v>0.4444444444444444</c:v>
                </c:pt>
                <c:pt idx="6">
                  <c:v>0.4</c:v>
                </c:pt>
                <c:pt idx="7">
                  <c:v>0.36363636363636365</c:v>
                </c:pt>
                <c:pt idx="8">
                  <c:v>0.3333333333333333</c:v>
                </c:pt>
                <c:pt idx="9">
                  <c:v>0.3076923076923077</c:v>
                </c:pt>
                <c:pt idx="10">
                  <c:v>0.2857142857142857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</c:v>
                </c:pt>
              </c:strCache>
            </c:strRef>
          </c:tx>
          <c:spPr>
            <a:solidFill>
              <a:srgbClr val="0EA5E9"/>
            </a:solidFill>
            <a:ln w="2540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0.85</c:v>
                </c:pt>
                <c:pt idx="2">
                  <c:v>0.7224999999999999</c:v>
                </c:pt>
                <c:pt idx="3">
                  <c:v>0.6141249999999999</c:v>
                </c:pt>
                <c:pt idx="4">
                  <c:v>0.5220062499999999</c:v>
                </c:pt>
                <c:pt idx="5">
                  <c:v>0.44370531249999995</c:v>
                </c:pt>
                <c:pt idx="6">
                  <c:v>0.37714951562499993</c:v>
                </c:pt>
                <c:pt idx="7">
                  <c:v>0.32057708828125</c:v>
                </c:pt>
                <c:pt idx="8">
                  <c:v>0.27249052503906246</c:v>
                </c:pt>
                <c:pt idx="9">
                  <c:v>0.23161694628320306</c:v>
                </c:pt>
                <c:pt idx="10">
                  <c:v>0.19687440434072262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step</c:v>
                </c:pt>
              </c:strCache>
            </c:strRef>
          </c:tx>
          <c:spPr>
            <a:solidFill>
              <a:srgbClr val="F97316"/>
            </a:solidFill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https://www.gartner.com/en/topics/generative-ai
- https://en.wikipedia.org/wiki/Transformer_(machine_learning_model)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https://www.gartner.com/en/topics/generative-ai
- https://en.wikipedia.org/wiki/Transformer_(machine_learning_model)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https://en.wikipedia.org/wiki/Artificial_intelligence
- https://en.wikipedia.org/wiki/Machine_learning
- https://en.wikipedia.org/wiki/Deep_learning
- https://en.wikipedia.org/wiki/Tom_Mitchell_(computer_scientist)#Machine_learning_definition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https://cs231n.github.io/neural-networks-1/
- https://www.deeplearningbook.org/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https://cs231n.github.io/neural-networks-1/
- https://www.deeplearningbook.org/contents/mlp.html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https://cs231n.github.io/neural-networks-1/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https://cs231n.github.io/linear-classify/
- https://www.deeplearningbook.org/contents/mlp.html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https://cs231n.github.io/linear-classify/
- https://cs231n.github.io/neural-networks-2/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https://www.deeplearningbook.org/contents/optimization.html
- https://arxiv.org/abs/1412.6980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https://www.deeplearningbook.org/contents/optimization.html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https://www.deeplearningbook.org/contents/optimization.html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https://doi.org/10.1016/0041-5553(64)90137-5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https://www.deeplearningbook.org/contents/optimization.html
- https://golden.com/wiki/RMSprop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https://arxiv.org/abs/1412.6980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https://cs231n.github.io/convolutional-networks/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https://cs231n.github.io/convolutional-networks/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https://cs231n.github.io/convolutional-networks/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https://www.researchgate.net/publication/2985446_Gradient-Based_Learning_Applied_to_Document_Recognition
- https://www.cv-foundation.org/openaccess/content_cvpr_2016/papers/He_Deep_Residual_Learning_CVPR_2016_paper.pdf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https://www.researchgate.net/publication/2985446_Gradient-Based_Learning_Applied_to_Document_Recognition
- https://www.mit.edu/~kepner/Academic-ML-Papers/VeryNew/Krizhevsky2012.pdf
- https://doi.org/10.48550/arXiv.1409.1556
- https://www.cv-foundation.org/openaccess/content_cvpr_2016/papers/He_Deep_Residual_Learning_CVPR_2016_paper.pdf
- https://arxiv.org/abs/1704.04861
- https://en.wikipedia.org/wiki/Inception_(deep_learning_architecture)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https://www.cv-foundation.org/openaccess/content_cvpr_2016/papers/He_Deep_Residual_Learning_CVPR_2016_paper.pdf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https://en.wikipedia.org/wiki/Inception_(deep_learning_architecture)
- https://arxiv.org/abs/1409.4842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https://arxiv.org/abs/1704.04861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https://cs231n.github.io/linear-classify/
- https://cs231n.github.io/convolutional-networks/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sv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sv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svg"/><Relationship Id="rId19" Type="http://schemas.openxmlformats.org/officeDocument/2006/relationships/image" Target="../media/image-25-19.png"/><Relationship Id="rId20" Type="http://schemas.openxmlformats.org/officeDocument/2006/relationships/image" Target="../media/image-25-20.svg"/><Relationship Id="rId21" Type="http://schemas.openxmlformats.org/officeDocument/2006/relationships/image" Target="../media/image-25-21.png"/><Relationship Id="rId22" Type="http://schemas.openxmlformats.org/officeDocument/2006/relationships/image" Target="../media/image-25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255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Consolidated Lectures (2–7)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41248" y="2148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Calculus-heavy derivations + advanced topics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971800"/>
            <a:ext cx="5120640" cy="82296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1546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Covers: Generative AI • DNN math • Optimization • CNN ops • CNN architectures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7442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deck optimizes for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10149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core calculus + matrix-calculus equations used in forward/backward passes</a:t>
            </a:r>
            <a:endParaRPr lang="en-US" sz="1800" dirty="0"/>
          </a:p>
          <a:p>
            <a:pPr marL="205740" indent="-20574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gradient results you can re-derive on a whiteboard</a:t>
            </a:r>
            <a:endParaRPr lang="en-US" sz="1800" dirty="0"/>
          </a:p>
          <a:p>
            <a:pPr marL="205740" indent="-20574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math: padding/stride/output shapes + parameter counts</a:t>
            </a:r>
            <a:endParaRPr lang="en-US" sz="1800" dirty="0"/>
          </a:p>
          <a:p>
            <a:pPr marL="205740" indent="-20574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“Advanced” topics surfaced early: GenAI (LLMs, diffusion) + modern CNN families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4526280"/>
            <a:ext cx="101498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617720"/>
            <a:ext cx="384048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64515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636008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+ Deep Learning landscape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928616"/>
            <a:ext cx="384048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95604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4946904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DNN math: activations, losses, backprop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5239512"/>
            <a:ext cx="384048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26694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525780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Optimization: GD, schedules, optimizers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7280" y="5550408"/>
            <a:ext cx="384048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57784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5568696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operations: convolution, pooling, shapes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7280" y="5861304"/>
            <a:ext cx="384048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88873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0200" y="5879592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architectures: LeNet → MobileNet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7280" y="6172200"/>
            <a:ext cx="384048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619963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6190488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Cheat sheets (derivatives + dimensions)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GenAI + Deep Learning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3063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“modern AI” feels like a stack of math + compute +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29260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Generative AI: where it sits in the ecosystem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539496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1051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definition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15087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that learn patterns from existing data and generate new artifacts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(text, images, audio, video, code).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building blocks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297180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 (LLMs)</a:t>
            </a:r>
            <a:endParaRPr lang="en-US" sz="1600" dirty="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models (text-to-image/video)</a:t>
            </a:r>
            <a:endParaRPr lang="en-US" sz="1600" dirty="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Autoencoders &amp; GANs (generative vision)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0" y="868680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2084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tiny timeline (very abridged)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720840" y="1581912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16852" y="1783080"/>
            <a:ext cx="18288" cy="594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15087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2017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863840" y="1508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720840" y="2221992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6852" y="2423160"/>
            <a:ext cx="18288" cy="594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0880" y="2148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2018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863840" y="2148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720840" y="2862072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16852" y="3063240"/>
            <a:ext cx="18288" cy="594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40880" y="27889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2020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863840" y="2788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GPT-3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720840" y="3502152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16852" y="3703320"/>
            <a:ext cx="18288" cy="594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40880" y="34290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2022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863840" y="3429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720840" y="4142232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40880" y="40690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2023+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863840" y="4069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 LLMs + diffusion scale-up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720840" y="4846320"/>
            <a:ext cx="45262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0" y="49834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this course: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949440" y="52120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You’ll reuse the same calculus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(gradients + chain rule)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of these.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vs. ML vs. Deep Learning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1280160"/>
            <a:ext cx="438912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00200" y="1828800"/>
            <a:ext cx="3383280" cy="3383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57400" y="2331720"/>
            <a:ext cx="2468880" cy="24688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25880" y="1417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2880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28600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852160" y="1234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useful ML definitions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852160" y="1691640"/>
            <a:ext cx="56692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18745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Arthur Samuel (1959):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26480" y="21031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“Gives computers the ability to learn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being explicitly programmed.”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852160" y="3657600"/>
            <a:ext cx="56692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84048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Tom Mitchell (1997):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26480" y="40690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from experience E on task 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measured by performance P,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 improves with 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DNN Math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3063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pass → loss → backward pass (chain rule everywhere)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29260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Forward pass (vectorized)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10515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 notation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layer ℓ (with activations a):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1737360"/>
            <a:ext cx="5120640" cy="594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60120" y="1645920"/>
            <a:ext cx="53949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1737360"/>
            <a:ext cx="5120640" cy="59436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7280" y="2395728"/>
            <a:ext cx="5120640" cy="5029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60120" y="2304288"/>
            <a:ext cx="5394960" cy="685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7280" y="2395728"/>
            <a:ext cx="5120640" cy="50292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492240" y="1280160"/>
            <a:ext cx="50292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720840" y="1417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shapes (single example)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6720840" y="17830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a^{[ℓ-1]}: (n_{ℓ-1} × 1)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720840" y="20574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W^{[ℓ]}:   (n_{ℓ} × n_{ℓ-1})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720840" y="23317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b^{[ℓ]}:   (n_{ℓ} × 1)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720840" y="26060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z^{[ℓ]}:   (n_{ℓ} × 1)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097280" y="31546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Mental model: data flows left → right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1280160" y="370332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00200" y="3657600"/>
            <a:ext cx="1371600" cy="36576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1508760" y="3817620"/>
            <a:ext cx="1554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18"/>
          <p:cNvSpPr/>
          <p:nvPr/>
        </p:nvSpPr>
        <p:spPr>
          <a:xfrm>
            <a:off x="3291840" y="370332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11880" y="3657600"/>
            <a:ext cx="1371600" cy="36576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3520440" y="3817620"/>
            <a:ext cx="1554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0"/>
          <p:cNvSpPr/>
          <p:nvPr/>
        </p:nvSpPr>
        <p:spPr>
          <a:xfrm>
            <a:off x="5303520" y="370332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23560" y="3657600"/>
            <a:ext cx="1371600" cy="36576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5532120" y="3817620"/>
            <a:ext cx="1554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2" name="Shape 22"/>
          <p:cNvSpPr/>
          <p:nvPr/>
        </p:nvSpPr>
        <p:spPr>
          <a:xfrm>
            <a:off x="7315200" y="370332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35240" y="3657600"/>
            <a:ext cx="1371600" cy="36576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492240" y="3886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Weights + biases + nonlinearity at every hidden layer.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Activations (and the derivatives you actually use)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10515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formulas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97280" y="1508760"/>
            <a:ext cx="530352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16459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Sigmoid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880" y="1920240"/>
            <a:ext cx="4846320" cy="685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46520" y="1508760"/>
            <a:ext cx="530352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75120" y="16459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tanh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120" y="1920240"/>
            <a:ext cx="4846320" cy="6858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097280" y="2944368"/>
            <a:ext cx="530352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25880" y="308152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ReLU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5880" y="3355848"/>
            <a:ext cx="4846320" cy="6858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46520" y="2944368"/>
            <a:ext cx="530352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675120" y="308152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Softmax</a:t>
            </a:r>
            <a:endParaRPr lang="en-US" sz="16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0" y="3355848"/>
            <a:ext cx="4846320" cy="6858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097280" y="5486400"/>
            <a:ext cx="10607040" cy="6400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325880" y="56235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most backprop reduces to “local derivative × upstream gradient”. Keep these four handy.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functions (regression + classification)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1234440"/>
            <a:ext cx="539496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440" y="1691640"/>
            <a:ext cx="49377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when y is continuous.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92240" y="123444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20840" y="1371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 classification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0840" y="1691640"/>
            <a:ext cx="4754880" cy="777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2606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paired with sigmoid output.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1005840" y="3611880"/>
            <a:ext cx="106984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234440" y="374904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Multi-class classification (Softmax + Cross-Entropy)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" y="4069080"/>
            <a:ext cx="1014984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8006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gradient shortcut (next slide): ∂L/∂z = p − 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Backprop: the two “golden gradients”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1097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These two results remove 80% of the algebra: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05840" y="1600200"/>
            <a:ext cx="53492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Sigmoid + Binary Cross-Entropy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440" y="2011680"/>
            <a:ext cx="4937760" cy="685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234440" y="2788920"/>
            <a:ext cx="4892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234440" y="28803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4440" y="3127248"/>
            <a:ext cx="4937760" cy="5029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097280" y="3035808"/>
            <a:ext cx="5212080" cy="685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" y="3127248"/>
            <a:ext cx="493776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7033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Then: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4440" y="3913632"/>
            <a:ext cx="4937760" cy="6858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537960" y="1600200"/>
            <a:ext cx="51663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76656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Softmax + Cross-Entropy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6560" y="2011680"/>
            <a:ext cx="4663440" cy="6858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766560" y="2788920"/>
            <a:ext cx="4617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6766560" y="28803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(vector form):</a:t>
            </a:r>
            <a:endParaRPr lang="en-US" sz="1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66560" y="3127248"/>
            <a:ext cx="4663440" cy="50292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629400" y="3035808"/>
            <a:ext cx="4937760" cy="685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66560" y="3127248"/>
            <a:ext cx="4663440" cy="5029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66560" y="37033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Again:</a:t>
            </a:r>
            <a:endParaRPr lang="en-US" sz="14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66560" y="3913632"/>
            <a:ext cx="4663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3063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descent, learning rates, and the optimizer zoo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29260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Gradient Descent: batch vs. stochastic vs. mini-batch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1143000"/>
            <a:ext cx="10607040" cy="640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60120" y="1051560"/>
            <a:ext cx="108813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1143000"/>
            <a:ext cx="1060704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18745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update rule, different gradient estimate: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097280" y="2331720"/>
            <a:ext cx="3429000" cy="2834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325880" y="25146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GD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371600" y="28803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full dataset for each step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but slow for big data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846320" y="2331720"/>
            <a:ext cx="3429000" cy="2834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74920" y="25146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Stochastic GD (SGD)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120640" y="28803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1 example per step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Noisy but fast and can escape shallow minima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595360" y="2331720"/>
            <a:ext cx="3429000" cy="28346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823960" y="25146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Mini-batch GD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869680" y="28803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small batch (e.g., 32–1024)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common in deep learning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rate schedules (why α rarely stays constant)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common patterns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14173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1/t decay (slowly decreases)</a:t>
            </a:r>
            <a:endParaRPr lang="en-US" sz="1600" dirty="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Exponential decay</a:t>
            </a:r>
            <a:endParaRPr lang="en-US" sz="1600" dirty="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decay (staircase)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09360" y="109728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1097280" y="2971800"/>
            <a:ext cx="5120640" cy="2194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25880" y="312724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 of thumb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25880" y="338328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α helps you move fast early.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α helps you settle near a good minimum.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Schedulers automate that trade.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Momentum (Polyak) + Nesterov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1234440"/>
            <a:ext cx="10698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13716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Momentum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440" y="1691640"/>
            <a:ext cx="102412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395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Intuition: “low-pass filter” the gradient to reduce zig-zagging.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005840" y="3611880"/>
            <a:ext cx="106984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234440" y="374904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Nesterov (lookahead)</a:t>
            </a:r>
            <a:endParaRPr lang="en-US" sz="2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4440" y="4069080"/>
            <a:ext cx="1024128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8920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Computes the gradient after a small “peek” in the momentum direction.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Adaptive methods: AdaGrad + RMSProp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1234440"/>
            <a:ext cx="53492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1371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AdaGrad (per-parameter step sizes)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440" y="1737360"/>
            <a:ext cx="4892040" cy="4114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4440" y="2148840"/>
            <a:ext cx="4892040" cy="59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7889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Downside: G_t only grows, so learning can “freeze”.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0" y="1234440"/>
            <a:ext cx="53035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29400" y="1371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RMSProp (EMA of squared gradients)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1737360"/>
            <a:ext cx="4800600" cy="50292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2267712"/>
            <a:ext cx="4800600" cy="6400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29400" y="29718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adapting without the “always growing” issue.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629400" y="3840480"/>
            <a:ext cx="4800600" cy="19659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6858000" y="3977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practice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858000" y="42245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Adam ≈ Momentum + RMSProp (next slide).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Adam (Adaptive Moment Estimation)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10515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EMAs: first moment (mean) + second moment (uncentered variance)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1417320"/>
            <a:ext cx="10607040" cy="685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60120" y="1325880"/>
            <a:ext cx="1088136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1417320"/>
            <a:ext cx="10607040" cy="68580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7280" y="2148840"/>
            <a:ext cx="10607040" cy="5486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60120" y="2057400"/>
            <a:ext cx="10881360" cy="73152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7280" y="2148840"/>
            <a:ext cx="10607040" cy="54864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7280" y="2743200"/>
            <a:ext cx="10607040" cy="59436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960120" y="2651760"/>
            <a:ext cx="10881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7280" y="2743200"/>
            <a:ext cx="10607040" cy="59436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1097280" y="3520440"/>
            <a:ext cx="106070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1325880" y="36576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hyperparameters</a:t>
            </a:r>
            <a:endParaRPr lang="en-US" sz="1800" dirty="0"/>
          </a:p>
        </p:txBody>
      </p:sp>
      <p:sp>
        <p:nvSpPr>
          <p:cNvPr id="20" name="Shape 11"/>
          <p:cNvSpPr/>
          <p:nvPr/>
        </p:nvSpPr>
        <p:spPr>
          <a:xfrm>
            <a:off x="1417320" y="4041648"/>
            <a:ext cx="640080" cy="3200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1417320" y="4096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β₁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2194560" y="40873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0.9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3246120" y="4087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momentum-like smoothing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1417320" y="4544568"/>
            <a:ext cx="640080" cy="3200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1417320" y="45994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β₂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2194560" y="4590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0.999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3246120" y="4590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RMSProp-like smoothing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1417320" y="5047488"/>
            <a:ext cx="640080" cy="3200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1417320" y="51023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ε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2194560" y="5093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1e-8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3246120" y="5093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stability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 Operations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3063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math: shapes, padding, stride, and parameters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29260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Convolution: dot products over local receptive fields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10515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2D convolution (single-channel)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1371600"/>
            <a:ext cx="10607040" cy="594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60120" y="1280160"/>
            <a:ext cx="10881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1371600"/>
            <a:ext cx="10607040" cy="5943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97280" y="2148840"/>
            <a:ext cx="10607040" cy="3977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325880" y="22860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hyperparameters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17320" y="26060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size k×k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Padding p (zero padding)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s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Channels: apply multiple filters to produce multiple feature maps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92240" y="2606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spatial size (per dim):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2240" y="2852928"/>
            <a:ext cx="4754880" cy="5029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55080" y="2761488"/>
            <a:ext cx="5029200" cy="685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2240" y="2852928"/>
            <a:ext cx="475488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92240" y="3401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“Valid” conv: p=0   •   “Same” conv: choose p to keep n_out = 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92240" y="38862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count (conv layer):</a:t>
            </a:r>
            <a:endParaRPr lang="en-US" sz="14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92240" y="4133088"/>
            <a:ext cx="4754880" cy="5029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355080" y="4041648"/>
            <a:ext cx="5029200" cy="685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92240" y="4133088"/>
            <a:ext cx="4754880" cy="5029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9224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(+1 is bias per output channel)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1417320" y="4160520"/>
            <a:ext cx="4572000" cy="16459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1645920" y="42976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(from lecture):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1645920" y="45262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filters, each 3×3×3:</a:t>
            </a:r>
            <a:endParaRPr lang="en-US" sz="13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5920" y="4754880"/>
            <a:ext cx="420624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Pooling + Global Average Pooling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1234440"/>
            <a:ext cx="53492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1371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Pooling (no learned parameters)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4440" y="17373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pooling: keep strongest activation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pooling: smooth/average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Hyperparameters: window f, stride s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440" y="2788920"/>
            <a:ext cx="4892040" cy="502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97280" y="2697480"/>
            <a:ext cx="5166360" cy="685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4440" y="2788920"/>
            <a:ext cx="489204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375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 reduce computation and overfitting.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1234440"/>
            <a:ext cx="53035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29400" y="1371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Average Pooling (GAP)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62940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each channel over the whole feature map:</a:t>
            </a:r>
            <a:endParaRPr lang="en-US" sz="1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2148840"/>
            <a:ext cx="4846320" cy="5486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92240" y="2057400"/>
            <a:ext cx="5120640" cy="73152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2148840"/>
            <a:ext cx="4846320" cy="5486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629400" y="2926080"/>
            <a:ext cx="4846320" cy="3017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812280" y="310896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Replaces huge fully-connected layers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Cuts parameters dramatically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improves generalization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 Architectures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3063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LeNet → AlexNet → VGG → Inception → ResNet → MobileNet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29260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“family album” (what changed each time)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10515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lens: which design choice improved training or efficiency?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7280" y="1554480"/>
            <a:ext cx="10607040" cy="4114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0624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97280" y="1965960"/>
            <a:ext cx="10607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208483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LeNet-5 (1998)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023360" y="196596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0" y="20848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conv net + pooling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0" y="196596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0" y="20848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Digits / early vision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97280" y="260604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27249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AlexNet (2012)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023360" y="260604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06240" y="272491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 + GPUs + dropout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15200" y="260604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0" y="27249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“big bang” for ImageNet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97280" y="3246120"/>
            <a:ext cx="10607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80160" y="33649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VGG (2014)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023360" y="324612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06240" y="33649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3×3 conv layers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315200" y="324612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0" y="33649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via simplicity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097280" y="388620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80160" y="40050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Inception (2014–15)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023360" y="388620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06240" y="400507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filters + 1×1 bottlenecks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315200" y="388620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98080" y="40050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Compute-efficient width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1097280" y="4526280"/>
            <a:ext cx="10607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80160" y="46451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ResNet (2015)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023360" y="452628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206240" y="46451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connections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315200" y="452628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0" y="46451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deep nets train reliably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1097280" y="516636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280160" y="528523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MobileNet (2017)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4023360" y="516636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206240" y="52852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Depthwise separable conv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7315200" y="5166360"/>
            <a:ext cx="9144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498080" y="52852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Edge/mobile efficiency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1097280" y="5806440"/>
            <a:ext cx="1060704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325880" y="591616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Exam-style takeaway: if you can compute output shapes + params, you can sanity-check any architecture.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ResNet: skip connections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1234440"/>
            <a:ext cx="53492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1371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idea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440" y="1691640"/>
            <a:ext cx="4892040" cy="594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97280" y="1600200"/>
            <a:ext cx="5166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4440" y="1691640"/>
            <a:ext cx="4892040" cy="59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3317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learning H(x) directly, learn a residual F(x)=H(x)−x.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34440" y="297180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optimization for deep nets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gradient flow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very deep models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0" y="12344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29400" y="1371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Residual block sketch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7726680" y="2011680"/>
            <a:ext cx="26517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90956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/ BN / ReLU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726680" y="2926080"/>
            <a:ext cx="26517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90956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/ BN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812280" y="2423160"/>
            <a:ext cx="822960" cy="4572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81228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10652760" y="2880360"/>
            <a:ext cx="822960" cy="45720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652760" y="2971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635240" y="2651760"/>
            <a:ext cx="8686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10378440" y="310896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9052560" y="265176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52560" y="356616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7223760" y="2880360"/>
            <a:ext cx="0" cy="105156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23760" y="3931920"/>
            <a:ext cx="36118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10378440" y="379476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03784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9646920" y="395478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10698480" y="3954780"/>
            <a:ext cx="685800" cy="-6858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Text 30"/>
          <p:cNvSpPr/>
          <p:nvPr/>
        </p:nvSpPr>
        <p:spPr>
          <a:xfrm>
            <a:off x="6629400" y="48463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path lets gradients flow even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F(x) is hard to optimize early.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Inception: parallel filters + 1×1 bottlenecks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10515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Idea: compute multiple receptive field sizes in parallel, then concatenate.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05840" y="1554480"/>
            <a:ext cx="10698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3246120"/>
            <a:ext cx="1097280" cy="54864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0" y="3355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0" y="2057400"/>
            <a:ext cx="192024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2203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1×1 conv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68880" y="3520440"/>
            <a:ext cx="640080" cy="-12115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200400" y="2880360"/>
            <a:ext cx="192024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0" y="30266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3×3 conv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468880" y="3520440"/>
            <a:ext cx="640080" cy="-3886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200400" y="3703320"/>
            <a:ext cx="192024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83280" y="38496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5×5 conv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468880" y="3520440"/>
            <a:ext cx="640080" cy="4343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200400" y="4526280"/>
            <a:ext cx="192024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46725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 + 1×1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468880" y="3520440"/>
            <a:ext cx="640080" cy="12573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949440" y="3200400"/>
            <a:ext cx="1371600" cy="64008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0" y="3355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Concat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120640" y="2308860"/>
            <a:ext cx="1463040" cy="12115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120640" y="3131820"/>
            <a:ext cx="1463040" cy="3886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120640" y="3954780"/>
            <a:ext cx="1463040" cy="-4343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120640" y="4777740"/>
            <a:ext cx="1463040" cy="-12573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869680" y="3200400"/>
            <a:ext cx="1188720" cy="64008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69680" y="33558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321040" y="352044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1234440" y="5532120"/>
            <a:ext cx="10424160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463040" y="566013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1×1 convolutions are often used as “dimension reducers” before expensive 3×3 or 5×5 ops.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MobileNet: depthwise separable convolution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1234440"/>
            <a:ext cx="106984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13716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Replace one expensive conv with two cheaper ops: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4440" y="17373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Depthwise conv: one k×k filter per input channel</a:t>
            </a:r>
            <a:endParaRPr lang="en-US" sz="1400" dirty="0"/>
          </a:p>
          <a:p>
            <a:pPr marL="160020" indent="-16002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Pointwise conv: 1×1 conv to mix channels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05840" y="3611880"/>
            <a:ext cx="53492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34440" y="37490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conv params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440" y="4041648"/>
            <a:ext cx="4754880" cy="548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7280" y="3950208"/>
            <a:ext cx="5029200" cy="73152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4440" y="4041648"/>
            <a:ext cx="475488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46177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Mixes space + channels in one shot.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0" y="361188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29400" y="3749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Depthwise-separable params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4041648"/>
            <a:ext cx="4846320" cy="5486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92240" y="3950208"/>
            <a:ext cx="5120640" cy="73152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4041648"/>
            <a:ext cx="484632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29400" y="4617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 cheaper when k is 3 or 5.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Cheat sheets: derivatives + dimensions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2940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255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868680"/>
            <a:ext cx="109728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1234440"/>
            <a:ext cx="53492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1371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Gradients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440" y="1737360"/>
            <a:ext cx="4754880" cy="4572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4440" y="2176272"/>
            <a:ext cx="4754880" cy="50292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" y="2706624"/>
            <a:ext cx="4754880" cy="50292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4440" y="3246120"/>
            <a:ext cx="4754880" cy="54864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4440" y="3794760"/>
            <a:ext cx="4754880" cy="6858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34440" y="45262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is the “error signal” at a layer.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6400800" y="1234440"/>
            <a:ext cx="53035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6629400" y="1371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 dimensions</a:t>
            </a:r>
            <a:endParaRPr lang="en-US" sz="1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9400" y="1737360"/>
            <a:ext cx="4846320" cy="50292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6492240" y="1645920"/>
            <a:ext cx="5120640" cy="685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29400" y="1737360"/>
            <a:ext cx="4846320" cy="502920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29400" y="2286000"/>
            <a:ext cx="4846320" cy="50292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6492240" y="2194560"/>
            <a:ext cx="5120640" cy="685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29400" y="2286000"/>
            <a:ext cx="4846320" cy="502920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29400" y="2834640"/>
            <a:ext cx="4846320" cy="502920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6492240" y="2743200"/>
            <a:ext cx="5120640" cy="685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29400" y="2834640"/>
            <a:ext cx="4846320" cy="502920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6629400" y="3474720"/>
            <a:ext cx="4846320" cy="26060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8" name="Text 14"/>
          <p:cNvSpPr/>
          <p:nvPr/>
        </p:nvSpPr>
        <p:spPr>
          <a:xfrm>
            <a:off x="6858000" y="3611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Sanity-check workflow</a:t>
            </a:r>
            <a:endParaRPr lang="en-US" sz="1400" dirty="0"/>
          </a:p>
        </p:txBody>
      </p:sp>
      <p:sp>
        <p:nvSpPr>
          <p:cNvPr id="29" name="Text 15"/>
          <p:cNvSpPr/>
          <p:nvPr/>
        </p:nvSpPr>
        <p:spPr>
          <a:xfrm>
            <a:off x="6858000" y="3913632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H×W×C after every layer</a:t>
            </a:r>
            <a:endParaRPr lang="en-US" sz="1300" dirty="0"/>
          </a:p>
          <a:p>
            <a:pPr marL="148590" indent="-14859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params per layer</a:t>
            </a:r>
            <a:endParaRPr lang="en-US" sz="1300" dirty="0"/>
          </a:p>
          <a:p>
            <a:pPr marL="148590" indent="-14859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final logits shape matches #classes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Done ✅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68680" y="32461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want, I can also generate an “equations-only” appendix deck for exam cram.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2026-03-25T02:26:34Z</dcterms:created>
  <dcterms:modified xsi:type="dcterms:W3CDTF">2026-03-25T02:26:34Z</dcterms:modified>
</cp:coreProperties>
</file>